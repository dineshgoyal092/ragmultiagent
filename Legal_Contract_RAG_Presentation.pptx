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3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Legal Contract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5A623"/>
                </a:solidFill>
              </a:rPr>
              <a:t>Multi-Agent RAG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8E8"/>
                </a:solidFill>
              </a:rPr>
              <a:t>Intelligent querying of legal contracts using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0A0C0"/>
                </a:solidFill>
              </a:rPr>
              <a:t>Groq  ·  OpenAI  ·  Ollama  |  FAISS  ·  CrossEncoder  ·  sentence-transformers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1B2A4A"/>
                </a:solidFill>
              </a:rPr>
              <a:t>• Context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5 legal contracts: NDA, VSA, SLA, DPA, Software License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Lawyers &amp; analysts need fast, precise answers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Manual review is slow and error-prone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A4A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A4A"/>
                </a:solidFill>
              </a:rPr>
              <a:t>• Core Requirements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Natural language Q&amp;A with grounded answers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Citations to exact contract clauses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Automatic risk flag detection [RISK]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Multi-turn conversation support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Out-of-scope query refusal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  • Evaluation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17320"/>
            <a:ext cx="58521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Sample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"What is the notice period for terminating the NDA?"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7004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"Is liability capped for breach of confidentiality?"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1985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"Are there conflicting governing laws?"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169664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"Summarize all risks for Acme Corp."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9194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</a:rPr>
              <a:t>"Can you draft a better NDA for me?"  ← refused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3 agents — clear responsibilities, no over-agentification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RAG Ingestion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73736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 × .txt
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783080"/>
            <a:ext cx="173736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4288" y="1783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Clause-level
chunker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783080"/>
            <a:ext cx="173736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42816" y="1783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34 chunks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783080"/>
            <a:ext cx="1737360" cy="59436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783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all-MiniLM
embedder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783080"/>
            <a:ext cx="17373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1783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FAISS
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697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A3"/>
                </a:solidFill>
              </a:rPr>
              <a:t>Query Processing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63240"/>
            <a:ext cx="15544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
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2224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93392" y="3063240"/>
            <a:ext cx="1554480" cy="65836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93392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
(Router)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12464" y="3063240"/>
            <a:ext cx="1554480" cy="65836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12464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Retrieval
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31536" y="3063240"/>
            <a:ext cx="1554480" cy="65836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31536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FAISS
recall ×12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063240"/>
            <a:ext cx="1554480" cy="658368"/>
          </a:xfrm>
          <a:prstGeom prst="rect">
            <a:avLst/>
          </a:prstGeom>
          <a:solidFill>
            <a:srgbClr val="3A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0608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CrossEncoder
rerank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063240"/>
            <a:ext cx="1554480" cy="65836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69680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Answer
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7584" y="32004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88752" y="3063240"/>
            <a:ext cx="15544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88752" y="306324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Response +
Citations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</a:rPr>
              <a:t>▸ OUT_OF_SCOPE → hardcoded refusal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▸ History kept for multi-turn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030"/>
                </a:solidFill>
              </a:rPr>
              <a:t>▸ [RISK] flags extracted from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FA3"/>
                </a:solidFill>
              </a:rPr>
              <a:t>▸ Sources filtered to cited docs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Every choice is deliberate — here's the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82880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481328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417320"/>
            <a:ext cx="237744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7712" y="1481328"/>
            <a:ext cx="2231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17320"/>
            <a:ext cx="384048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481328"/>
            <a:ext cx="369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Why this 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417320"/>
            <a:ext cx="338328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1481328"/>
            <a:ext cx="32369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FFFFFF"/>
                </a:solidFill>
              </a:rPr>
              <a:t>Trade-off / Alternative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01368"/>
            <a:ext cx="18288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4" name="TextBox 13"/>
          <p:cNvSpPr txBox="1"/>
          <p:nvPr/>
        </p:nvSpPr>
        <p:spPr>
          <a:xfrm>
            <a:off x="438912" y="1865376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Chunking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801368"/>
            <a:ext cx="23774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" name="TextBox 15"/>
          <p:cNvSpPr txBox="1"/>
          <p:nvPr/>
        </p:nvSpPr>
        <p:spPr>
          <a:xfrm>
            <a:off x="2267712" y="1865376"/>
            <a:ext cx="223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Clause-level
(split on §1. §2. …)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801368"/>
            <a:ext cx="3840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8" name="TextBox 17"/>
          <p:cNvSpPr txBox="1"/>
          <p:nvPr/>
        </p:nvSpPr>
        <p:spPr>
          <a:xfrm>
            <a:off x="4645152" y="1865376"/>
            <a:ext cx="369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Legal contracts are structured as numbered obligations.
Each clause is semantically self-contained — splitting mid-clause
breaks the obligation and degrades retrieval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801368"/>
            <a:ext cx="3383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0" name="TextBox 19"/>
          <p:cNvSpPr txBox="1"/>
          <p:nvPr/>
        </p:nvSpPr>
        <p:spPr>
          <a:xfrm>
            <a:off x="8485632" y="1865376"/>
            <a:ext cx="3236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Sliding-window would keep more context across clauses
but splits obligations mid-sentence.
Future: cross-section linking (§1 defs → §4 refs).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85416"/>
            <a:ext cx="182880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2" name="TextBox 21"/>
          <p:cNvSpPr txBox="1"/>
          <p:nvPr/>
        </p:nvSpPr>
        <p:spPr>
          <a:xfrm>
            <a:off x="438912" y="2249424"/>
            <a:ext cx="1682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Embedding
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2185416"/>
            <a:ext cx="237744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4" name="TextBox 23"/>
          <p:cNvSpPr txBox="1"/>
          <p:nvPr/>
        </p:nvSpPr>
        <p:spPr>
          <a:xfrm>
            <a:off x="2267712" y="2249424"/>
            <a:ext cx="223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all-MiniLM-L6-v2
(local, 384-dim)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185416"/>
            <a:ext cx="384048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4645152" y="2249424"/>
            <a:ext cx="369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Runs entirely locally — zero API cost, no latency.
384 dimensions is sufficient for clause-length passages.
Strong general semantic similarity on short 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185416"/>
            <a:ext cx="338328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8" name="TextBox 27"/>
          <p:cNvSpPr txBox="1"/>
          <p:nvPr/>
        </p:nvSpPr>
        <p:spPr>
          <a:xfrm>
            <a:off x="8485632" y="2249424"/>
            <a:ext cx="3236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Not fine-tuned on legal text — misses domain nuances
(e.g. 'prior written consent' vs 'written authorization').
Alternative: legal-bert or text-embedding-3-large.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569464"/>
            <a:ext cx="18288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0" name="TextBox 29"/>
          <p:cNvSpPr txBox="1"/>
          <p:nvPr/>
        </p:nvSpPr>
        <p:spPr>
          <a:xfrm>
            <a:off x="438912" y="2633472"/>
            <a:ext cx="1682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Vector Store
(FAISS)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569464"/>
            <a:ext cx="23774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2" name="TextBox 31"/>
          <p:cNvSpPr txBox="1"/>
          <p:nvPr/>
        </p:nvSpPr>
        <p:spPr>
          <a:xfrm>
            <a:off x="2267712" y="2633472"/>
            <a:ext cx="223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IndexFlatIP
(exact cosine similarity)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569464"/>
            <a:ext cx="3840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4" name="TextBox 33"/>
          <p:cNvSpPr txBox="1"/>
          <p:nvPr/>
        </p:nvSpPr>
        <p:spPr>
          <a:xfrm>
            <a:off x="4645152" y="2633472"/>
            <a:ext cx="369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Exact brute-force search — always finds true nearest neighbours.
Correct choice for small corpora (34 chunks).
No approximation error, simple to maintain.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569464"/>
            <a:ext cx="3383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6" name="TextBox 35"/>
          <p:cNvSpPr txBox="1"/>
          <p:nvPr/>
        </p:nvSpPr>
        <p:spPr>
          <a:xfrm>
            <a:off x="8485632" y="2633472"/>
            <a:ext cx="3236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At &gt;100k chunks, approximate methods (IVF, HNSW) needed
for acceptable latency.
For production: Pinecone / Weaviate / pgvector.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53512"/>
            <a:ext cx="182880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8" name="TextBox 37"/>
          <p:cNvSpPr txBox="1"/>
          <p:nvPr/>
        </p:nvSpPr>
        <p:spPr>
          <a:xfrm>
            <a:off x="438912" y="3017520"/>
            <a:ext cx="1682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Re-ranking
(CrossEncoder)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2953512"/>
            <a:ext cx="237744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0" name="TextBox 39"/>
          <p:cNvSpPr txBox="1"/>
          <p:nvPr/>
        </p:nvSpPr>
        <p:spPr>
          <a:xfrm>
            <a:off x="2267712" y="3017520"/>
            <a:ext cx="223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1B2A4A"/>
                </a:solidFill>
              </a:rPr>
              <a:t>ms-marco-MiniLM-L-6-v2
Recall ×12 → top-</a:t>
            </a:r>
            <a:r>
              <a:rPr lang="en-IN" sz="800" dirty="0">
                <a:solidFill>
                  <a:srgbClr val="1B2A4A"/>
                </a:solidFill>
              </a:rPr>
              <a:t>8</a:t>
            </a:r>
            <a:endParaRPr sz="800" b="0" dirty="0">
              <a:solidFill>
                <a:srgbClr val="1B2A4A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2953512"/>
            <a:ext cx="384048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2" name="TextBox 41"/>
          <p:cNvSpPr txBox="1"/>
          <p:nvPr/>
        </p:nvSpPr>
        <p:spPr>
          <a:xfrm>
            <a:off x="4645152" y="3017520"/>
            <a:ext cx="3694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Bi-encoder embeds query &amp; chunk independently (fast, ~recall).
Cross-encoder sees them together — captures exact relevance.
Two-stage: recall 12 candidates, rerank to top-8.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2953512"/>
            <a:ext cx="3383280" cy="576072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4" name="TextBox 43"/>
          <p:cNvSpPr txBox="1"/>
          <p:nvPr/>
        </p:nvSpPr>
        <p:spPr>
          <a:xfrm>
            <a:off x="8485632" y="3017520"/>
            <a:ext cx="3236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B2A4A"/>
                </a:solidFill>
              </a:rPr>
              <a:t>Adds per-query latency (~100ms).
Not suitable for high-throughput without batching.
Alternative: skip reranking for simple factual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Evaluation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FA3"/>
                </a:solidFill>
              </a:rPr>
              <a:t>LLM-as-Judge  (--eval)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17 assignment queries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Relevance 0–3: did the answer address the question?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Groundedness 0–3: is it tied to document text?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Result: Relevance 2.9/3  |  Groundedness 2.2/3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030"/>
                </a:solidFill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86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Judge model non-deterministic across runs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No absolute ground truth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B2A4A"/>
                </a:solidFill>
              </a:rPr>
              <a:t>• Small corpus limits stress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FA3"/>
                </a:solidFill>
              </a:rPr>
              <a:t>Labeled Dataset  (--labeled)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01168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892808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118872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89280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828800"/>
            <a:ext cx="118872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1472" y="189280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828800"/>
            <a:ext cx="118872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80192" y="189280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212848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276856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Factual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21284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227685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21284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227685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221284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80192" y="227685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0.93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96896"/>
            <a:ext cx="20116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2660904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596896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266090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596896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66090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2596896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80192" y="266090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0.64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80944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1072" y="30449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CrossDoc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98094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304495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298094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91472" y="304495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298094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80192" y="304495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0.67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364992"/>
            <a:ext cx="20116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342900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Hallucination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364992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02752" y="342900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3364992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91472" y="342900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07040" y="3364992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80192" y="342900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1.00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749040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3813048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OutOfScope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02752" y="381304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74904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91472" y="381304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07040" y="374904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680192" y="381304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0.94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133088"/>
            <a:ext cx="20116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4197096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MultiQuery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4133088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2752" y="419709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4133088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91472" y="419709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TBD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07040" y="4133088"/>
            <a:ext cx="1188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680192" y="419709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TBD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517136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1072" y="4581144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Total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51713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02752" y="458114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32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18320" y="451713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91472" y="458114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19+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07040" y="451713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680192" y="458114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0.84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</a:rPr>
              <a:t>4 metrics per case: AnswerMatch · CitationMatch · RiskMatch · RefusalMatch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Enhancements if This Were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92608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481328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Enhancement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417320"/>
            <a:ext cx="502920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64992" y="148132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417320"/>
            <a:ext cx="3474720" cy="384048"/>
          </a:xfrm>
          <a:prstGeom prst="rect">
            <a:avLst/>
          </a:prstGeom>
          <a:solidFill>
            <a:srgbClr val="2E5FA3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481328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865376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Legal-domain 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801368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Fine-tuned model (legal-bert, law-ai) instead of general MiniLM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01368"/>
            <a:ext cx="3474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86537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Better retrieval on domain-specific terms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85416"/>
            <a:ext cx="29260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249424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Query decomposition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85416"/>
            <a:ext cx="502920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4992" y="2249424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Split compound queries into sub-queries, merge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85416"/>
            <a:ext cx="3474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24942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Handles multi-part questions reliably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69464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2633472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Per-document retrieval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569464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64992" y="2633472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Fetch top-K per contract, then rerank globally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569464"/>
            <a:ext cx="3474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263347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Guarantees coverage across all docs for broad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53512"/>
            <a:ext cx="29260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3017520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Approximate FAISS (IVF/HNSW)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953512"/>
            <a:ext cx="502920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64992" y="3017520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Replace IndexFlatIP for corpora with 100k+ chunks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953512"/>
            <a:ext cx="3474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301752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Scales to production document volumes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37560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3401568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Persistent vector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337560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64992" y="3401568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Save FAISS index to disk; reload on restart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337560"/>
            <a:ext cx="3474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3401568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Eliminates re-indexing on every startup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21608"/>
            <a:ext cx="292608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3785616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Streaming responses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721608"/>
            <a:ext cx="502920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64992" y="378561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Stream LLM tokens to console as they arrive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721608"/>
            <a:ext cx="3474720" cy="384048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2" y="378561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Better UX for long answers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105656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4169664"/>
            <a:ext cx="2779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Confidence thresholding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4105656"/>
            <a:ext cx="5029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64992" y="4169664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Return 'not found' if top reranker score &lt; threshold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4105656"/>
            <a:ext cx="3474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94192" y="416966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A4A"/>
                </a:solidFill>
              </a:rPr>
              <a:t>Reduces confident wrong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783</Words>
  <Application>Microsoft Office PowerPoint</Application>
  <PresentationFormat>Custom</PresentationFormat>
  <Paragraphs>144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Goyal</cp:lastModifiedBy>
  <cp:revision>3</cp:revision>
  <dcterms:created xsi:type="dcterms:W3CDTF">2013-01-27T09:14:16Z</dcterms:created>
  <dcterms:modified xsi:type="dcterms:W3CDTF">2026-03-13T17:45:30Z</dcterms:modified>
  <cp:category/>
</cp:coreProperties>
</file>